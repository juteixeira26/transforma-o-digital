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Inter SemiBold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Merriweather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InterSemiBold-bold.fntdata"/><Relationship Id="rId21" Type="http://schemas.openxmlformats.org/officeDocument/2006/relationships/font" Target="fonts/InterSemiBold-regular.fntdata"/><Relationship Id="rId24" Type="http://schemas.openxmlformats.org/officeDocument/2006/relationships/font" Target="fonts/InterSemiBold-boldItalic.fntdata"/><Relationship Id="rId23" Type="http://schemas.openxmlformats.org/officeDocument/2006/relationships/font" Target="fonts/Inter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erriweath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erriweather-italic.fntdata"/><Relationship Id="rId30" Type="http://schemas.openxmlformats.org/officeDocument/2006/relationships/font" Target="fonts/Merriweather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Merriweather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18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23.png"/><Relationship Id="rId11" Type="http://schemas.openxmlformats.org/officeDocument/2006/relationships/image" Target="../media/image19.png"/><Relationship Id="rId10" Type="http://schemas.openxmlformats.org/officeDocument/2006/relationships/image" Target="../media/image8.png"/><Relationship Id="rId12" Type="http://schemas.openxmlformats.org/officeDocument/2006/relationships/image" Target="../media/image7.png"/><Relationship Id="rId9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30.png"/><Relationship Id="rId7" Type="http://schemas.openxmlformats.org/officeDocument/2006/relationships/image" Target="../media/image22.png"/><Relationship Id="rId8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Relationship Id="rId11" Type="http://schemas.openxmlformats.org/officeDocument/2006/relationships/image" Target="../media/image28.png"/><Relationship Id="rId10" Type="http://schemas.openxmlformats.org/officeDocument/2006/relationships/image" Target="../media/image16.png"/><Relationship Id="rId12" Type="http://schemas.openxmlformats.org/officeDocument/2006/relationships/image" Target="../media/image29.png"/><Relationship Id="rId9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38.png"/><Relationship Id="rId6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3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26.png"/><Relationship Id="rId11" Type="http://schemas.openxmlformats.org/officeDocument/2006/relationships/image" Target="../media/image33.png"/><Relationship Id="rId10" Type="http://schemas.openxmlformats.org/officeDocument/2006/relationships/image" Target="../media/image40.png"/><Relationship Id="rId12" Type="http://schemas.openxmlformats.org/officeDocument/2006/relationships/image" Target="../media/image39.png"/><Relationship Id="rId9" Type="http://schemas.openxmlformats.org/officeDocument/2006/relationships/image" Target="../media/image36.png"/><Relationship Id="rId5" Type="http://schemas.openxmlformats.org/officeDocument/2006/relationships/image" Target="../media/image27.png"/><Relationship Id="rId6" Type="http://schemas.openxmlformats.org/officeDocument/2006/relationships/image" Target="../media/image35.png"/><Relationship Id="rId7" Type="http://schemas.openxmlformats.org/officeDocument/2006/relationships/image" Target="../media/image34.png"/><Relationship Id="rId8" Type="http://schemas.openxmlformats.org/officeDocument/2006/relationships/image" Target="../media/image3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37.png"/><Relationship Id="rId5" Type="http://schemas.openxmlformats.org/officeDocument/2006/relationships/image" Target="../media/image44.png"/><Relationship Id="rId6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43.png"/><Relationship Id="rId6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4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42.png"/><Relationship Id="rId9" Type="http://schemas.openxmlformats.org/officeDocument/2006/relationships/image" Target="../media/image49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8.png"/><Relationship Id="rId8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66937" y="1679376"/>
            <a:ext cx="7858125" cy="349924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570559" y="2308026"/>
            <a:ext cx="7050881" cy="1279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Giving Data a Voice: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200" u="none" cap="none" strike="noStrik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 The Rise of TalkingData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738437" y="3778448"/>
            <a:ext cx="67151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Apresentação Estruturada por Questões - Estudo de Caso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Mestrado Profissional em Administração Pública (FGV EBAPE)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619750" y="2657475"/>
            <a:ext cx="952500" cy="4762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5165883" y="2990850"/>
            <a:ext cx="1860232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Eixo 1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4281487" y="3943350"/>
            <a:ext cx="36290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Entendimento Geral do Caso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333500"/>
            <a:ext cx="53340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571500" y="1333500"/>
            <a:ext cx="533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Inspirado em Deming: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"Em Deus a gente confia; todos os outros devem trazer dados."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 empresa buscou mudar a cultura decisória na China, focada no "feeling", dando voz aos dados.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904875" y="2619375"/>
            <a:ext cx="50006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Racionalidade Limitada (Simon):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Não somos 100% racionais por falta de informação e limites cognitivos. A TalkingData supre essa falta, focando na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razão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 em evidências.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904875" y="3952875"/>
            <a:ext cx="50006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BI vs. Data Analytics/Science: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Enquanto o BI (Business Intelligence) descreve o passado com dados estruturados, a Data Science prevê o futuro encontrando padrões em dados "bagunçados".</a:t>
            </a:r>
            <a:endParaRPr/>
          </a:p>
        </p:txBody>
      </p:sp>
      <p:pic>
        <p:nvPicPr>
          <p:cNvPr descr="image.png" id="105" name="Google Shape;10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333500"/>
            <a:ext cx="53340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Questão 1: Por que "TalkingData"?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571500" y="1019175"/>
            <a:ext cx="11049000" cy="2857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8" name="Google Shape;10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638425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71925"/>
            <a:ext cx="1333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00275"/>
            <a:ext cx="3492549" cy="421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200275"/>
            <a:ext cx="3492549" cy="421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200275"/>
            <a:ext cx="3492549" cy="421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571500" y="12954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 ambiente dos games é fechado e controlado, gerando um "rastro" digital perfeito para quantificação através do modelo dos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3Vs do Big Data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/>
          </a:p>
        </p:txBody>
      </p:sp>
      <p:pic>
        <p:nvPicPr>
          <p:cNvPr descr="image.png" id="119" name="Google Shape;11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54317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866775" y="3495675"/>
            <a:ext cx="95011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Volume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66775" y="3933825"/>
            <a:ext cx="2901999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Escala absurda de dados. Exemplo prático: O jogo Fortnite atinge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92 milhões de eventos por minuto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 um consumo de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5 petabytes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dados gerados por mês.</a:t>
            </a:r>
            <a:endParaRPr/>
          </a:p>
        </p:txBody>
      </p:sp>
      <p:pic>
        <p:nvPicPr>
          <p:cNvPr descr="image.png" id="122" name="Google Shape;12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54317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4645074" y="3495675"/>
            <a:ext cx="140017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Velocidade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4645074" y="3933825"/>
            <a:ext cx="2901999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Necessidade de analisar informações em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tempo real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para verificar a capacidade de resposta dos servidores e manter a mecânica do jogo balanceada (equilibrada) para os usuários.</a:t>
            </a:r>
            <a:endParaRPr/>
          </a:p>
        </p:txBody>
      </p:sp>
      <p:pic>
        <p:nvPicPr>
          <p:cNvPr descr="image.png" id="125" name="Google Shape;12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54317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8423374" y="3495675"/>
            <a:ext cx="127015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Variedade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423374" y="3933825"/>
            <a:ext cx="2901999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Diversidade brutal de comportamentos coletados: desde os cliques dos jogadores até o tempo exato de jogo, itens comprados e localização geográfica simultânea.</a:t>
            </a:r>
            <a:endParaRPr/>
          </a:p>
        </p:txBody>
      </p:sp>
      <p:pic>
        <p:nvPicPr>
          <p:cNvPr descr="image.png" id="128" name="Google Shape;128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38225" y="2714625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40337" y="2714625"/>
            <a:ext cx="3714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66249" y="2714625"/>
            <a:ext cx="47625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500" y="43815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Questão 2: O Segmento de Games e os 3Vs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571500" y="981075"/>
            <a:ext cx="11049000" cy="2857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33500"/>
            <a:ext cx="3492549" cy="504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333500"/>
            <a:ext cx="3492549" cy="504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333500"/>
            <a:ext cx="3492549" cy="504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1533525"/>
            <a:ext cx="309249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49824" y="1533525"/>
            <a:ext cx="309249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28124" y="1533525"/>
            <a:ext cx="3092499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771525" y="3629025"/>
            <a:ext cx="3247124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Volume no Governo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771525" y="3971925"/>
            <a:ext cx="30924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Capacidade de lidar com bases gigantescas, consolidando registros de saúde da população, previdência e dados de milhares de contribuintes (impostos).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4549824" y="3629025"/>
            <a:ext cx="3247124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Variedade no Governo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4549824" y="3971925"/>
            <a:ext cx="309249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Integração de planilhas com dados complexos não-estruturados: sensores de IoT, reconhecimento facial em multidões e telemetria para planejamento urbano inteligente.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8328124" y="3629025"/>
            <a:ext cx="3247124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Velocidade no Governo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8328124" y="3971925"/>
            <a:ext cx="309249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Gestão de crises em tempo real (como monitoramento de surtos de gripe) e identificação instantânea de anomalias para Segurança Pública e prevenção de fraudes.</a:t>
            </a:r>
            <a:endParaRPr/>
          </a:p>
        </p:txBody>
      </p:sp>
      <p:pic>
        <p:nvPicPr>
          <p:cNvPr descr="image.png" id="150" name="Google Shape;150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81050" y="1543050"/>
            <a:ext cx="3073449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37649" y="1543050"/>
            <a:ext cx="3073449" cy="188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Questão 2 (Continuação): 3Vs no Setor Público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571500" y="1019175"/>
            <a:ext cx="11049000" cy="2857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1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549825" y="1543050"/>
            <a:ext cx="3092500" cy="183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333500"/>
            <a:ext cx="53340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571500" y="1333500"/>
            <a:ext cx="5334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TDID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atua como um "CPF digital" dos dispositivos (celular, tablet, PC), traçando um perfil completo do usuário sem expor sua identidade verdadeira.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904875" y="2333625"/>
            <a:ext cx="50006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Inteligência Curiosa: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Prevê o gênero do usuário pelo modo como carrega o celular, analisando os sensores de movimento (bolso da frente vs. bolsa).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904875" y="3381375"/>
            <a:ext cx="50006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Impacto no Governo: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Essa tecnologia é a base técnica ideal para a criação de um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"ID Único do Cidadão"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unificando o acesso a serviços públicos e eliminando a repetição de dados em diferentes guichês.</a:t>
            </a:r>
            <a:endParaRPr/>
          </a:p>
        </p:txBody>
      </p:sp>
      <p:pic>
        <p:nvPicPr>
          <p:cNvPr descr="image.png" id="164" name="Google Shape;16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333500"/>
            <a:ext cx="53340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Questão 3: O TDID e seu Impacto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571500" y="1019175"/>
            <a:ext cx="11049000" cy="2857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7" name="Google Shape;16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352675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00425"/>
            <a:ext cx="1333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85925"/>
            <a:ext cx="53340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28975"/>
            <a:ext cx="53340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772025"/>
            <a:ext cx="5334000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6286500" y="2257425"/>
            <a:ext cx="56007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 Aprendizado para a Gestão Pública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6286500" y="2695575"/>
            <a:ext cx="5334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 TalkingData compreendeu que era impossível cobrir todo o ciclo de valor isoladamente, optando por criar um ecossistema integrado.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6286500" y="3886200"/>
            <a:ext cx="53340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Lição de Ouro: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 Transformação Digital no governo não se restringe à tecnologia ou aquisição de software. Trata-se de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pessoas e parcerias estratégicas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dependendo de estruturas que conectem verdadeiramente os diferentes órgãos da Administração Pública.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819150" y="1933575"/>
            <a:ext cx="1686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800" u="none" cap="none" strike="noStrik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DCU</a:t>
            </a:r>
            <a:endParaRPr sz="1200"/>
          </a:p>
        </p:txBody>
      </p:sp>
      <p:sp>
        <p:nvSpPr>
          <p:cNvPr id="181" name="Google Shape;181;p19"/>
          <p:cNvSpPr txBox="1"/>
          <p:nvPr/>
        </p:nvSpPr>
        <p:spPr>
          <a:xfrm>
            <a:off x="2695575" y="2042219"/>
            <a:ext cx="2609850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 Consulting Unit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(Soluções de Consultoria)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819150" y="3476625"/>
            <a:ext cx="1714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DTU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2724150" y="3585269"/>
            <a:ext cx="2362200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 Transaction Unit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(Transações de Dados)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819150" y="5019675"/>
            <a:ext cx="16383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700" u="none" cap="none" strike="noStrik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DPU</a:t>
            </a:r>
            <a:endParaRPr sz="1100"/>
          </a:p>
        </p:txBody>
      </p:sp>
      <p:sp>
        <p:nvSpPr>
          <p:cNvPr id="185" name="Google Shape;185;p19"/>
          <p:cNvSpPr txBox="1"/>
          <p:nvPr/>
        </p:nvSpPr>
        <p:spPr>
          <a:xfrm>
            <a:off x="2647950" y="5128319"/>
            <a:ext cx="2352675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 Partnership Unit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(Foco em Ecossistema)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Questão 4: A Reorganização de 2017</a:t>
            </a: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571500" y="1019175"/>
            <a:ext cx="11049000" cy="2857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/>
          <p:nvPr/>
        </p:nvSpPr>
        <p:spPr>
          <a:xfrm>
            <a:off x="5619750" y="2657475"/>
            <a:ext cx="952500" cy="4762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5125878" y="2990850"/>
            <a:ext cx="1940242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Eixo 2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3424237" y="3943350"/>
            <a:ext cx="53435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Entendimento das Tecnologias Envolvidas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09762"/>
            <a:ext cx="3492549" cy="451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909762"/>
            <a:ext cx="3492549" cy="451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909762"/>
            <a:ext cx="3492549" cy="4514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571500" y="1290637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 fluxo tecnológico da TalkingData mapeia diretamente as fases do modelo metodológico CRISP-DM:</a:t>
            </a:r>
            <a:endParaRPr/>
          </a:p>
        </p:txBody>
      </p:sp>
      <p:pic>
        <p:nvPicPr>
          <p:cNvPr descr="image.png" id="205" name="Google Shape;205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25266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866775" y="3205162"/>
            <a:ext cx="3047099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1. Compreensão e Preparação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866775" y="3938587"/>
            <a:ext cx="2901999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Data Understanding &amp; Prep: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Coleta do dado bruto (</a:t>
            </a:r>
            <a:r>
              <a:rPr b="0" i="1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Raw Data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) e tratamento rigoroso no "Data Set", organizando informações e aplicando etiquetas (tags) para categorização.</a:t>
            </a:r>
            <a:endParaRPr/>
          </a:p>
        </p:txBody>
      </p:sp>
      <p:pic>
        <p:nvPicPr>
          <p:cNvPr descr="image.png" id="208" name="Google Shape;208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25266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4645074" y="3205162"/>
            <a:ext cx="177022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2. Modelagem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4645074" y="3643312"/>
            <a:ext cx="2901999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Modeling: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Os dados já limpos e estruturados são inseridos na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Smart Data Platform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um ambiente dedicado à exploração analítica e criação dos algoritmos preditivos.</a:t>
            </a:r>
            <a:endParaRPr/>
          </a:p>
        </p:txBody>
      </p:sp>
      <p:pic>
        <p:nvPicPr>
          <p:cNvPr descr="image.png" id="211" name="Google Shape;211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25266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 txBox="1"/>
          <p:nvPr/>
        </p:nvSpPr>
        <p:spPr>
          <a:xfrm>
            <a:off x="8423374" y="3205162"/>
            <a:ext cx="184023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3. Implantação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8423374" y="3643312"/>
            <a:ext cx="2901999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Deployment: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 entrega tangível do valor da ferramenta, fornecendo os resultados práticos na forma de relatórios analíticos gerenciais e licenciamento de soluções SaaS.</a:t>
            </a:r>
            <a:endParaRPr/>
          </a:p>
        </p:txBody>
      </p:sp>
      <p:pic>
        <p:nvPicPr>
          <p:cNvPr descr="image.png" id="214" name="Google Shape;214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9650" y="2424112"/>
            <a:ext cx="47625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16524" y="2424112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94824" y="2424112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571500" y="433387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Questão 5: Arquitetura Tecnológica vs CRISP-DM</a:t>
            </a:r>
            <a:endParaRPr/>
          </a:p>
        </p:txBody>
      </p:sp>
      <p:sp>
        <p:nvSpPr>
          <p:cNvPr id="218" name="Google Shape;218;p21"/>
          <p:cNvSpPr/>
          <p:nvPr/>
        </p:nvSpPr>
        <p:spPr>
          <a:xfrm>
            <a:off x="571500" y="976312"/>
            <a:ext cx="11049000" cy="2857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/>
          <p:nvPr/>
        </p:nvSpPr>
        <p:spPr>
          <a:xfrm>
            <a:off x="5619750" y="2657475"/>
            <a:ext cx="952500" cy="4762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5130879" y="2990850"/>
            <a:ext cx="1930241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Eixo 3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3100387" y="3943350"/>
            <a:ext cx="59912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Desafios e Relações com a Realidade Brasileira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33500"/>
            <a:ext cx="5334000" cy="504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333500"/>
            <a:ext cx="5334000" cy="5048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3"/>
          <p:cNvSpPr txBox="1"/>
          <p:nvPr/>
        </p:nvSpPr>
        <p:spPr>
          <a:xfrm>
            <a:off x="962025" y="2852737"/>
            <a:ext cx="478059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 Domínio Original (China)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962025" y="3290887"/>
            <a:ext cx="45529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 TalkingData cresceu tracionada por dois setores altamente maduros e lucrativos: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Marketing de precisão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 operações de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Finanças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(como análise profunda de risco de crédito para bancos e instituições financeiras).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6677025" y="1852612"/>
            <a:ext cx="478059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 "Ouro" no Setor Público (Brasil)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6677025" y="2290762"/>
            <a:ext cx="45529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Além das finanças governamentais, o impacto mais transformador do Analytics preditivo está em: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7010400" y="3290887"/>
            <a:ext cx="42195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Educação: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Algoritmos para prever e evitar a evasão de alunos.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7010400" y="4052887"/>
            <a:ext cx="42195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Saúde e Cidades: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Compreender padrões de migração urbana para decidir onde planejar o próximo hospital.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7010400" y="5100637"/>
            <a:ext cx="42195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Segurança Pública: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Predição de ocorrências para alocação de recursos.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Questão 6: Aplicações — China vs Brasil</a:t>
            </a:r>
            <a:endParaRPr/>
          </a:p>
        </p:txBody>
      </p:sp>
      <p:sp>
        <p:nvSpPr>
          <p:cNvPr id="242" name="Google Shape;242;p23"/>
          <p:cNvSpPr/>
          <p:nvPr/>
        </p:nvSpPr>
        <p:spPr>
          <a:xfrm>
            <a:off x="571500" y="1019175"/>
            <a:ext cx="11049000" cy="2857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3" name="Google Shape;24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7025" y="3309937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7025" y="4071937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7025" y="5119687"/>
            <a:ext cx="1333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0" name="Google Shape;25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333500"/>
            <a:ext cx="53340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4"/>
          <p:cNvSpPr txBox="1"/>
          <p:nvPr/>
        </p:nvSpPr>
        <p:spPr>
          <a:xfrm>
            <a:off x="904875" y="1333500"/>
            <a:ext cx="50006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Adaptação e Transparência: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 TalkingData adequou-se à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GDPR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europeia usando técnicas de "desensibilização". No Brasil, a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LGPD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obriga o Setor Público e provedores a adotarem níveis altíssimos de transparência na coleta e guarda de dados.</a:t>
            </a:r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904875" y="2952750"/>
            <a:ext cx="50006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 Alerta do MIT: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Uma pesquisa demonstrou que, mesmo com técnicas severas de anonimização, o cruzamento correto de bases de dados permite identificar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95% das pessoas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904875" y="4286250"/>
            <a:ext cx="50006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Desafio Ininterrupto: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Conclusão prática é que segurança da informação e a gestão ética de dados não são eventos isolados, mas desafios contínuos e infindáveis.</a:t>
            </a:r>
            <a:endParaRPr/>
          </a:p>
        </p:txBody>
      </p:sp>
      <p:pic>
        <p:nvPicPr>
          <p:cNvPr descr="image.png" id="255" name="Google Shape;25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333500"/>
            <a:ext cx="53340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4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Questão 7: O Impacto da LGPD e a Privacidade</a:t>
            </a:r>
            <a:endParaRPr/>
          </a:p>
        </p:txBody>
      </p:sp>
      <p:sp>
        <p:nvSpPr>
          <p:cNvPr id="257" name="Google Shape;257;p24"/>
          <p:cNvSpPr/>
          <p:nvPr/>
        </p:nvSpPr>
        <p:spPr>
          <a:xfrm>
            <a:off x="571500" y="1019175"/>
            <a:ext cx="11049000" cy="2857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8" name="Google Shape;25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352550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971800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05300"/>
            <a:ext cx="1333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5" name="Google Shape;26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6400" y="1233487"/>
            <a:ext cx="8839200" cy="439102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5"/>
          <p:cNvSpPr txBox="1"/>
          <p:nvPr/>
        </p:nvSpPr>
        <p:spPr>
          <a:xfrm>
            <a:off x="2324100" y="1804987"/>
            <a:ext cx="7620000" cy="271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8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 "O dado é o 'combustível', mas o que importa é a capacidade de fazer esse dado 'falar' através da inteligência e da estratégia. Pro nosso setor público, o caminho é esse: menos instinto e mais evidência." 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2724150" y="4805362"/>
            <a:ext cx="68199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Mitigação da Racionalidade Limitada — A Nova Era Governamental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3" name="Google Shape;27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6"/>
          <p:cNvSpPr txBox="1"/>
          <p:nvPr/>
        </p:nvSpPr>
        <p:spPr>
          <a:xfrm>
            <a:off x="295275" y="2628900"/>
            <a:ext cx="11601450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Obrigado!</a:t>
            </a:r>
            <a:endParaRPr/>
          </a:p>
        </p:txBody>
      </p:sp>
      <p:sp>
        <p:nvSpPr>
          <p:cNvPr id="275" name="Google Shape;275;p26"/>
          <p:cNvSpPr txBox="1"/>
          <p:nvPr/>
        </p:nvSpPr>
        <p:spPr>
          <a:xfrm>
            <a:off x="571500" y="3686175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Aberto para discussões e dúvidas sobre o Estudo de Caso.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0" name="Google Shape;28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7"/>
          <p:cNvSpPr/>
          <p:nvPr/>
        </p:nvSpPr>
        <p:spPr>
          <a:xfrm>
            <a:off x="571500" y="129063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7"/>
          <p:cNvSpPr/>
          <p:nvPr/>
        </p:nvSpPr>
        <p:spPr>
          <a:xfrm>
            <a:off x="571500" y="2062162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7"/>
          <p:cNvSpPr/>
          <p:nvPr/>
        </p:nvSpPr>
        <p:spPr>
          <a:xfrm>
            <a:off x="571500" y="300513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7"/>
          <p:cNvSpPr/>
          <p:nvPr/>
        </p:nvSpPr>
        <p:spPr>
          <a:xfrm>
            <a:off x="571500" y="3776662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7"/>
          <p:cNvSpPr/>
          <p:nvPr/>
        </p:nvSpPr>
        <p:spPr>
          <a:xfrm>
            <a:off x="571500" y="4719637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7"/>
          <p:cNvSpPr/>
          <p:nvPr/>
        </p:nvSpPr>
        <p:spPr>
          <a:xfrm>
            <a:off x="571500" y="20526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7"/>
          <p:cNvSpPr/>
          <p:nvPr/>
        </p:nvSpPr>
        <p:spPr>
          <a:xfrm>
            <a:off x="571500" y="20526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7"/>
          <p:cNvSpPr/>
          <p:nvPr/>
        </p:nvSpPr>
        <p:spPr>
          <a:xfrm>
            <a:off x="571500" y="29956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7"/>
          <p:cNvSpPr/>
          <p:nvPr/>
        </p:nvSpPr>
        <p:spPr>
          <a:xfrm>
            <a:off x="571500" y="29956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7"/>
          <p:cNvSpPr/>
          <p:nvPr/>
        </p:nvSpPr>
        <p:spPr>
          <a:xfrm>
            <a:off x="571500" y="37671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7"/>
          <p:cNvSpPr/>
          <p:nvPr/>
        </p:nvSpPr>
        <p:spPr>
          <a:xfrm>
            <a:off x="571500" y="37671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7"/>
          <p:cNvSpPr/>
          <p:nvPr/>
        </p:nvSpPr>
        <p:spPr>
          <a:xfrm>
            <a:off x="571500" y="47101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7"/>
          <p:cNvSpPr/>
          <p:nvPr/>
        </p:nvSpPr>
        <p:spPr>
          <a:xfrm>
            <a:off x="571500" y="47101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7"/>
          <p:cNvSpPr/>
          <p:nvPr/>
        </p:nvSpPr>
        <p:spPr>
          <a:xfrm>
            <a:off x="571500" y="56530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7"/>
          <p:cNvSpPr/>
          <p:nvPr/>
        </p:nvSpPr>
        <p:spPr>
          <a:xfrm>
            <a:off x="571500" y="56530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6" name="Google Shape;29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335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7"/>
          <p:cNvSpPr txBox="1"/>
          <p:nvPr/>
        </p:nvSpPr>
        <p:spPr>
          <a:xfrm>
            <a:off x="1666875" y="144065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https://img.freepik.com/premium-vector/web-report-dashboard-concept-business-people-team-meeting-data-analytics-monitoring-data_675567-1555.jpg</a:t>
            </a:r>
            <a:endParaRPr/>
          </a:p>
        </p:txBody>
      </p:sp>
      <p:sp>
        <p:nvSpPr>
          <p:cNvPr id="298" name="Google Shape;298;p27"/>
          <p:cNvSpPr txBox="1"/>
          <p:nvPr/>
        </p:nvSpPr>
        <p:spPr>
          <a:xfrm>
            <a:off x="1666875" y="167401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www.freepik.com</a:t>
            </a:r>
            <a:endParaRPr/>
          </a:p>
        </p:txBody>
      </p:sp>
      <p:pic>
        <p:nvPicPr>
          <p:cNvPr descr="image.png" id="299" name="Google Shape;29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2907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7"/>
          <p:cNvSpPr txBox="1"/>
          <p:nvPr/>
        </p:nvSpPr>
        <p:spPr>
          <a:xfrm>
            <a:off x="1666875" y="2205037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https://substackcdn.com/image/fetch/$s_!sdZu!,f_auto,q_auto:good,fl_progressive:steep/https%3A%2F%2Fsubstack-post-media.s3.amazonaws.com%2Fpublic%2Fimages%2F9703219d-24ee-4f6e-b958-322d70820f17_1199x800.jpeg</a:t>
            </a:r>
            <a:endParaRPr/>
          </a:p>
        </p:txBody>
      </p:sp>
      <p:sp>
        <p:nvSpPr>
          <p:cNvPr id="301" name="Google Shape;301;p27"/>
          <p:cNvSpPr txBox="1"/>
          <p:nvPr/>
        </p:nvSpPr>
        <p:spPr>
          <a:xfrm>
            <a:off x="1666875" y="2624137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www.datacenterdollars.com</a:t>
            </a:r>
            <a:endParaRPr/>
          </a:p>
        </p:txBody>
      </p:sp>
      <p:pic>
        <p:nvPicPr>
          <p:cNvPr descr="image.png" id="302" name="Google Shape;302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480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7"/>
          <p:cNvSpPr txBox="1"/>
          <p:nvPr/>
        </p:nvSpPr>
        <p:spPr>
          <a:xfrm>
            <a:off x="1666875" y="315515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https://blog.goodvisionlive.com/hs-fs/hubfs/Frame%20172-1.png?width=1980&amp;name=Frame%20172-1.png</a:t>
            </a:r>
            <a:endParaRPr/>
          </a:p>
        </p:txBody>
      </p:sp>
      <p:sp>
        <p:nvSpPr>
          <p:cNvPr id="304" name="Google Shape;304;p27"/>
          <p:cNvSpPr txBox="1"/>
          <p:nvPr/>
        </p:nvSpPr>
        <p:spPr>
          <a:xfrm>
            <a:off x="1666875" y="338851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blog.goodvisionlive.com</a:t>
            </a:r>
            <a:endParaRPr/>
          </a:p>
        </p:txBody>
      </p:sp>
      <p:pic>
        <p:nvPicPr>
          <p:cNvPr descr="image.png" id="305" name="Google Shape;305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0052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7"/>
          <p:cNvSpPr txBox="1"/>
          <p:nvPr/>
        </p:nvSpPr>
        <p:spPr>
          <a:xfrm>
            <a:off x="1666875" y="3919537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https://img.freepik.com/premium-vector/cyber-security-fraud-detection-dashboard-with-data-visualization-charts-transaction-monitoring-interface-financial-risk-management_717906-153143.jpg</a:t>
            </a:r>
            <a:endParaRPr/>
          </a:p>
        </p:txBody>
      </p:sp>
      <p:sp>
        <p:nvSpPr>
          <p:cNvPr id="307" name="Google Shape;307;p27"/>
          <p:cNvSpPr txBox="1"/>
          <p:nvPr/>
        </p:nvSpPr>
        <p:spPr>
          <a:xfrm>
            <a:off x="1666875" y="4338637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www.freepik.com</a:t>
            </a:r>
            <a:endParaRPr/>
          </a:p>
        </p:txBody>
      </p:sp>
      <p:pic>
        <p:nvPicPr>
          <p:cNvPr descr="image.png" id="308" name="Google Shape;308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9482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7"/>
          <p:cNvSpPr txBox="1"/>
          <p:nvPr/>
        </p:nvSpPr>
        <p:spPr>
          <a:xfrm>
            <a:off x="1666875" y="4862512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https://img.freepik.com/premium-vector/fingerprint-login-smartphone-access-information-self-security-digital-technologies-biometric-identification-touch-secure-recent-vector-concept_543062-9551.jpg</a:t>
            </a:r>
            <a:endParaRPr/>
          </a:p>
        </p:txBody>
      </p:sp>
      <p:sp>
        <p:nvSpPr>
          <p:cNvPr id="310" name="Google Shape;310;p27"/>
          <p:cNvSpPr txBox="1"/>
          <p:nvPr/>
        </p:nvSpPr>
        <p:spPr>
          <a:xfrm>
            <a:off x="1666875" y="5281612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www.freepik.com</a:t>
            </a:r>
            <a:endParaRPr/>
          </a:p>
        </p:txBody>
      </p:sp>
      <p:pic>
        <p:nvPicPr>
          <p:cNvPr descr="image.png" id="311" name="Google Shape;311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8054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7"/>
          <p:cNvSpPr txBox="1"/>
          <p:nvPr/>
        </p:nvSpPr>
        <p:spPr>
          <a:xfrm>
            <a:off x="1666875" y="581263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https://pandectes.io/wp-content/uploads/2025/09/Latest-GDPR-and-DPA-Changes-Under-the-UKs-Data-Use-and-Access-Act-icon.png</a:t>
            </a:r>
            <a:endParaRPr/>
          </a:p>
        </p:txBody>
      </p:sp>
      <p:sp>
        <p:nvSpPr>
          <p:cNvPr id="313" name="Google Shape;313;p27"/>
          <p:cNvSpPr txBox="1"/>
          <p:nvPr/>
        </p:nvSpPr>
        <p:spPr>
          <a:xfrm>
            <a:off x="1666875" y="604599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pandectes.io</a:t>
            </a:r>
            <a:endParaRPr/>
          </a:p>
        </p:txBody>
      </p:sp>
      <p:sp>
        <p:nvSpPr>
          <p:cNvPr id="314" name="Google Shape;314;p27"/>
          <p:cNvSpPr txBox="1"/>
          <p:nvPr/>
        </p:nvSpPr>
        <p:spPr>
          <a:xfrm>
            <a:off x="571500" y="433387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315" name="Google Shape;315;p27"/>
          <p:cNvSpPr/>
          <p:nvPr/>
        </p:nvSpPr>
        <p:spPr>
          <a:xfrm>
            <a:off x="571500" y="976312"/>
            <a:ext cx="11049000" cy="2857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